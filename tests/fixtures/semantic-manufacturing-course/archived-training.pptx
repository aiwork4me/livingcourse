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65fe5e0a3f47bd" /><Relationship Type="http://schemas.openxmlformats.org/officeDocument/2006/relationships/extended-properties" Target="/docProps/app.xml" Id="Ra15a1570711c47e3" /><Relationship Type="http://schemas.openxmlformats.org/officeDocument/2006/relationships/officeDocument" Target="/ppt/presentation.xml" Id="R71361f9c6434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0b1e6191b4df9"/>
  </p:sldMasterIdLst>
  <p:notesMasterIdLst>
    <p:notesMasterId xmlns:r="http://schemas.openxmlformats.org/officeDocument/2006/relationships" r:id="R3f4a6a1ab34349c3"/>
  </p:notesMasterIdLst>
  <p:sldIdLst>
    <p:sldId xmlns:r="http://schemas.openxmlformats.org/officeDocument/2006/relationships" id="256" r:id="Rf1cc5757badf4e1b"/>
    <p:sldId xmlns:r="http://schemas.openxmlformats.org/officeDocument/2006/relationships" id="257" r:id="R46cf9de2d2a14fe4"/>
    <p:sldId xmlns:r="http://schemas.openxmlformats.org/officeDocument/2006/relationships" id="258" r:id="Re9213623dc3945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3b7abbcc44e26" /><Relationship Type="http://schemas.openxmlformats.org/officeDocument/2006/relationships/slideMaster" Target="/ppt/slideMasters/slideMaster1.xml" Id="R6760b1e6191b4df9" /><Relationship Type="http://schemas.openxmlformats.org/officeDocument/2006/relationships/notesMaster" Target="/ppt/notesMasters/notesMaster1.xml" Id="R3f4a6a1ab34349c3" /><Relationship Type="http://schemas.openxmlformats.org/officeDocument/2006/relationships/presProps" Target="/ppt/presProps.xml" Id="R08eb42faa6314152" /><Relationship Type="http://schemas.openxmlformats.org/officeDocument/2006/relationships/tableStyles" Target="/ppt/tableStyles.xml" Id="R04e4aa0351b74340" /><Relationship Type="http://schemas.openxmlformats.org/officeDocument/2006/relationships/slide" Target="/ppt/slides/slide1.xml" Id="Rf1cc5757badf4e1b" /><Relationship Type="http://schemas.openxmlformats.org/officeDocument/2006/relationships/slide" Target="/ppt/slides/slide2.xml" Id="R46cf9de2d2a14fe4" /><Relationship Type="http://schemas.openxmlformats.org/officeDocument/2006/relationships/slide" Target="/ppt/slides/slide3.xml" Id="Re9213623dc3945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25420c5d7e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8622f1c094253" /><Relationship Type="http://schemas.openxmlformats.org/officeDocument/2006/relationships/notesMaster" Target="/ppt/notesMasters/notesMaster1.xml" Id="R1a4b5af6dc2146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9f3f816fc471c" /><Relationship Type="http://schemas.openxmlformats.org/officeDocument/2006/relationships/notesMaster" Target="/ppt/notesMasters/notesMaster1.xml" Id="R254d1a5e2cba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11cc7ce2e04a5d" /><Relationship Type="http://schemas.openxmlformats.org/officeDocument/2006/relationships/notesMaster" Target="/ppt/notesMasters/notesMaster1.xml" Id="Ra292f3c4f31d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57aa9a3d64f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04ab67991041b8" /><Relationship Type="http://schemas.openxmlformats.org/officeDocument/2006/relationships/slideLayout" Target="/ppt/slideLayouts/slideLayout1.xml" Id="Rc51c2997424947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c2997424947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37c6a8926412f" /><Relationship Type="http://schemas.openxmlformats.org/officeDocument/2006/relationships/notesSlide" Target="/ppt/notesSlides/notesSlide1.xml" Id="R121d884941174f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a3382cabc413d" /><Relationship Type="http://schemas.openxmlformats.org/officeDocument/2006/relationships/notesSlide" Target="/ppt/notesSlides/notesSlide2.xml" Id="R3af7730dbe3a4e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ae1c0d5a748dc" /><Relationship Type="http://schemas.openxmlformats.org/officeDocument/2006/relationships/notesSlide" Target="/ppt/notesSlides/notesSlide3.xml" Id="R6c9076663ce840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rchive-label">
            <a:extLst xmlns:a="http://schemas.openxmlformats.org/drawingml/2006/main">
              <a:ext uri="{FF2B5EF4-FFF2-40B4-BE49-F238E27FC236}">
                <a16:creationId xmlns:a16="http://schemas.microsoft.com/office/drawing/2014/main" id="{E350A790-4FBD-47AF-AF54-DB2E9E59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ARCHIVED TRAINING · SYNTHETIC FIXTURE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FB96F12-CD28-4347-A960-3CE11787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36E"/>
                </a:solidFill>
              </a:defRPr>
            </a:pPr>
            <a:r>
              <a:rPr sz="975">
                <a:solidFill>
                  <a:srgbClr val="59636E"/>
                </a:solidFill>
              </a:rPr>
              <a:t>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5F6378-43F9-47A6-93C2-DFD07136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Synthetic Press</a:t>
            </a:r>
          </a:p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Operator Training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5A5C02E-78A1-470D-BDF6-F6E90368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36E"/>
                </a:solidFill>
              </a:defRPr>
            </a:pPr>
            <a:r>
              <a:rPr sz="1875">
                <a:solidFill>
                  <a:srgbClr val="59636E"/>
                </a:solidFill>
              </a:rPr>
              <a:t>Superseded reference — never treat as current authority</a:t>
            </a:r>
          </a:p>
        </p:txBody>
      </p:sp>
      <p:sp>
        <p:nvSpPr>
          <p:cNvPr id="5" name="archive-panel">
            <a:extLst xmlns:a="http://schemas.openxmlformats.org/drawingml/2006/main">
              <a:ext uri="{FF2B5EF4-FFF2-40B4-BE49-F238E27FC236}">
                <a16:creationId xmlns:a16="http://schemas.microsoft.com/office/drawing/2014/main" id="{FC03406B-2694-44FD-A025-B5C9330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9540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rchive-year">
            <a:extLst xmlns:a="http://schemas.openxmlformats.org/drawingml/2006/main">
              <a:ext uri="{FF2B5EF4-FFF2-40B4-BE49-F238E27FC236}">
                <a16:creationId xmlns:a16="http://schemas.microsoft.com/office/drawing/2014/main" id="{70F3FC63-3158-44DC-B7EB-4EAEE960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59636E"/>
                </a:solidFill>
              </a:defRPr>
            </a:pPr>
            <a:r>
              <a:rPr sz="4050" b="1">
                <a:solidFill>
                  <a:srgbClr val="59636E"/>
                </a:solidFill>
              </a:rPr>
              <a:t>2023</a:t>
            </a:r>
          </a:p>
        </p:txBody>
      </p:sp>
      <p:sp>
        <p:nvSpPr>
          <p:cNvPr id="7" name="archive-status">
            <a:extLst xmlns:a="http://schemas.openxmlformats.org/drawingml/2006/main">
              <a:ext uri="{FF2B5EF4-FFF2-40B4-BE49-F238E27FC236}">
                <a16:creationId xmlns:a16="http://schemas.microsoft.com/office/drawing/2014/main" id="{B87F72B7-BC8A-4525-A571-7C87B2A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59636E"/>
                </a:solidFill>
              </a:defRPr>
            </a:pPr>
            <a:r>
              <a:rPr sz="1725">
                <a:solidFill>
                  <a:srgbClr val="59636E"/>
                </a:solidFill>
              </a:rPr>
              <a:t>ARCHIVED</a:t>
            </a:r>
          </a:p>
          <a:p xmlns:a="http://schemas.openxmlformats.org/drawingml/2006/main">
            <a:pPr algn="ctr">
              <a:defRPr sz="1725">
                <a:solidFill>
                  <a:srgbClr val="59636E"/>
                </a:solidFill>
              </a:defRPr>
            </a:pPr>
            <a:r>
              <a:rPr sz="1725">
                <a:solidFill>
                  <a:srgbClr val="59636E"/>
                </a:solidFill>
              </a:rPr>
              <a:t>Revision 1.4</a:t>
            </a:r>
          </a:p>
        </p:txBody>
      </p:sp>
    </p:spTree>
    <p:extLst>
      <p:ext uri="{BB962C8B-B14F-4D97-AF65-F5344CB8AC3E}">
        <p14:creationId xmlns:p14="http://schemas.microsoft.com/office/powerpoint/2010/main" val="1774546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rchive-label">
            <a:extLst xmlns:a="http://schemas.openxmlformats.org/drawingml/2006/main">
              <a:ext uri="{FF2B5EF4-FFF2-40B4-BE49-F238E27FC236}">
                <a16:creationId xmlns:a16="http://schemas.microsoft.com/office/drawing/2014/main" id="{29023A88-0C6C-4869-88B2-D5F368D7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ARCHIVED TRAINING · SYNTHETIC FIXTURE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2666BC8-E4BB-486D-8ACD-7B7B4D16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36E"/>
                </a:solidFill>
              </a:defRPr>
            </a:pPr>
            <a:r>
              <a:rPr sz="975">
                <a:solidFill>
                  <a:srgbClr val="59636E"/>
                </a:solidFill>
              </a:rPr>
              <a:t>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C932F4-AD19-40A4-B7E4-6A20DD16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Archived operating reminder</a:t>
            </a:r>
          </a:p>
        </p:txBody>
      </p:sp>
      <p:sp>
        <p:nvSpPr>
          <p:cNvPr id="4" name="conflict">
            <a:extLst xmlns:a="http://schemas.openxmlformats.org/drawingml/2006/main">
              <a:ext uri="{FF2B5EF4-FFF2-40B4-BE49-F238E27FC236}">
                <a16:creationId xmlns:a16="http://schemas.microsoft.com/office/drawing/2014/main" id="{ED885683-6737-41FA-850A-013E12A4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B1C1C"/>
                </a:solidFill>
              </a:defRPr>
            </a:pPr>
            <a:r>
              <a:rPr sz="2700" b="1">
                <a:solidFill>
                  <a:srgbClr val="9B1C1C"/>
                </a:solidFill>
              </a:rPr>
              <a:t>Synthetic training pressure setting = 0.65 MPa</a:t>
            </a:r>
          </a:p>
        </p:txBody>
      </p:sp>
      <p:sp>
        <p:nvSpPr>
          <p:cNvPr id="5" name="duplicate">
            <a:extLst xmlns:a="http://schemas.openxmlformats.org/drawingml/2006/main">
              <a:ext uri="{FF2B5EF4-FFF2-40B4-BE49-F238E27FC236}">
                <a16:creationId xmlns:a16="http://schemas.microsoft.com/office/drawing/2014/main" id="{BAB262C8-0341-42C3-9FF6-E65E3747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>Wear splash goggles and safety shoes before entering the practice zone.</a:t>
            </a:r>
          </a:p>
        </p:txBody>
      </p:sp>
      <p:sp>
        <p:nvSpPr>
          <p:cNvPr id="6" name="negation">
            <a:extLst xmlns:a="http://schemas.openxmlformats.org/drawingml/2006/main">
              <a:ext uri="{FF2B5EF4-FFF2-40B4-BE49-F238E27FC236}">
                <a16:creationId xmlns:a16="http://schemas.microsoft.com/office/drawing/2014/main" id="{5E848AE7-7859-4CB9-A7A1-377FE837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Do not open the guard door while the synthetic machine is running.</a:t>
            </a:r>
          </a:p>
        </p:txBody>
      </p:sp>
      <p:sp>
        <p:nvSpPr>
          <p:cNvPr id="7" name="warning">
            <a:extLst xmlns:a="http://schemas.openxmlformats.org/drawingml/2006/main">
              <a:ext uri="{FF2B5EF4-FFF2-40B4-BE49-F238E27FC236}">
                <a16:creationId xmlns:a16="http://schemas.microsoft.com/office/drawing/2014/main" id="{95857609-177E-44D2-9741-52943B6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  <a:r>
              <a:rPr sz="1275">
                <a:solidFill>
                  <a:srgbClr val="59636E"/>
                </a:solidFill>
              </a:rPr>
              <a:t>Conflict fixture only: the controlled SOP contains a different numeric value.</a:t>
            </a:r>
          </a:p>
        </p:txBody>
      </p:sp>
    </p:spTree>
    <p:extLst>
      <p:ext uri="{BB962C8B-B14F-4D97-AF65-F5344CB8AC3E}">
        <p14:creationId xmlns:p14="http://schemas.microsoft.com/office/powerpoint/2010/main" val="2137854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rchive-label">
            <a:extLst xmlns:a="http://schemas.openxmlformats.org/drawingml/2006/main">
              <a:ext uri="{FF2B5EF4-FFF2-40B4-BE49-F238E27FC236}">
                <a16:creationId xmlns:a16="http://schemas.microsoft.com/office/drawing/2014/main" id="{345E93B3-BAA2-4CAB-8202-9691894F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ARCHIVED TRAINING · SYNTHETIC FIXTURE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E8EAD6B-A785-43F2-9CC7-FD82D46A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36E"/>
                </a:solidFill>
              </a:defRPr>
            </a:pPr>
            <a:r>
              <a:rPr sz="975">
                <a:solidFill>
                  <a:srgbClr val="59636E"/>
                </a:solidFill>
              </a:rPr>
              <a:t>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F9A01B-8F90-4B5E-814A-D53BB13D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Revision history</a:t>
            </a:r>
          </a:p>
        </p:txBody>
      </p:sp>
      <p:sp>
        <p:nvSpPr>
          <p:cNvPr id="4" name="revision">
            <a:extLst xmlns:a="http://schemas.openxmlformats.org/drawingml/2006/main">
              <a:ext uri="{FF2B5EF4-FFF2-40B4-BE49-F238E27FC236}">
                <a16:creationId xmlns:a16="http://schemas.microsoft.com/office/drawing/2014/main" id="{96F2E99A-5528-48C0-A764-0BF4EA3C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19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36E"/>
                </a:solidFill>
              </a:defRPr>
            </a:pPr>
            <a:r>
              <a:rPr sz="1950">
                <a:solidFill>
                  <a:srgbClr val="59636E"/>
                </a:solidFill>
              </a:rPr>
              <a:t>Revision 1.4 — formatting refresh</a:t>
            </a:r>
          </a:p>
          <a:p xmlns:a="http://schemas.openxmlformats.org/drawingml/2006/main">
            <a:pPr>
              <a:defRPr sz="1950">
                <a:solidFill>
                  <a:srgbClr val="59636E"/>
                </a:solidFill>
              </a:defRPr>
            </a:pPr>
            <a:r>
              <a:rPr sz="1950">
                <a:solidFill>
                  <a:srgbClr val="59636E"/>
                </a:solidFill>
              </a:rPr>
              <a:t>Revision 1.3 — copyright notice updated</a:t>
            </a:r>
          </a:p>
          <a:p xmlns:a="http://schemas.openxmlformats.org/drawingml/2006/main">
            <a:pPr>
              <a:defRPr sz="1950">
                <a:solidFill>
                  <a:srgbClr val="59636E"/>
                </a:solidFill>
              </a:defRPr>
            </a:pPr>
            <a:r>
              <a:rPr sz="1950">
                <a:solidFill>
                  <a:srgbClr val="59636E"/>
                </a:solidFill>
              </a:rPr>
              <a:t>Revision 1.2 — trainer biography updated</a:t>
            </a:r>
          </a:p>
        </p:txBody>
      </p:sp>
      <p:sp>
        <p:nvSpPr>
          <p:cNvPr id="5" name="copyright">
            <a:extLst xmlns:a="http://schemas.openxmlformats.org/drawingml/2006/main">
              <a:ext uri="{FF2B5EF4-FFF2-40B4-BE49-F238E27FC236}">
                <a16:creationId xmlns:a16="http://schemas.microsoft.com/office/drawing/2014/main" id="{0990E57B-36E6-4209-A341-1DFA5772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36E"/>
                </a:solidFill>
              </a:defRPr>
            </a:pPr>
            <a:r>
              <a:rPr sz="1500">
                <a:solidFill>
                  <a:srgbClr val="59636E"/>
                </a:solidFill>
              </a:rPr>
              <a:t>© 2023 Synthetic Fixture Works. Internal archive copy.</a:t>
            </a:r>
          </a:p>
        </p:txBody>
      </p:sp>
      <p:sp>
        <p:nvSpPr>
          <p:cNvPr id="6" name="irrelevant">
            <a:extLst xmlns:a="http://schemas.openxmlformats.org/drawingml/2006/main">
              <a:ext uri="{FF2B5EF4-FFF2-40B4-BE49-F238E27FC236}">
                <a16:creationId xmlns:a16="http://schemas.microsoft.com/office/drawing/2014/main" id="{D3E851EB-9F73-45AF-A5DA-7F68EA53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9636E"/>
                </a:solidFill>
              </a:defRPr>
            </a:pPr>
            <a:r>
              <a:rPr sz="1275" i="1">
                <a:solidFill>
                  <a:srgbClr val="59636E"/>
                </a:solidFill>
              </a:rPr>
              <a:t>This slide intentionally contains no course fact.</a:t>
            </a:r>
          </a:p>
        </p:txBody>
      </p:sp>
    </p:spTree>
    <p:extLst>
      <p:ext uri="{BB962C8B-B14F-4D97-AF65-F5344CB8AC3E}">
        <p14:creationId xmlns:p14="http://schemas.microsoft.com/office/powerpoint/2010/main" val="918534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2026-09-01T13:28:27.6180000Z</dcterms:created>
  <dcterms:modified xsi:type="dcterms:W3CDTF">2026-09-01T13:28:27.6180000Z</dcterms:modified>
</coreProperties>
</file>